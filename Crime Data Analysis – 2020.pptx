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4" r:id="rId6"/>
    <p:sldId id="286" r:id="rId7"/>
    <p:sldId id="288" r:id="rId8"/>
    <p:sldId id="287" r:id="rId9"/>
    <p:sldId id="289" r:id="rId10"/>
    <p:sldId id="290" r:id="rId11"/>
    <p:sldId id="291" r:id="rId12"/>
    <p:sldId id="292" r:id="rId13"/>
    <p:sldId id="293" r:id="rId14"/>
    <p:sldId id="277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3300"/>
    <a:srgbClr val="CC99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howGuides="1">
      <p:cViewPr>
        <p:scale>
          <a:sx n="62" d="100"/>
          <a:sy n="62" d="100"/>
        </p:scale>
        <p:origin x="104" y="44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al_task\Excel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al_task\Excel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al_task\Excel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[Excel_Analysis.xlsx]Crime Involving guns.xlsx!PivotTable4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cap="all" spc="5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Crimes Involving Guns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cap="all" spc="5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no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A495C3F-65A2-46C9-AD36-2C0426DA3C40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8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8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9.5446546041048727E-2"/>
                  <c:h val="0.10295864782860246"/>
                </c:manualLayout>
              </c15:layout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5DCB72F0-02C3-477B-A3F4-E0516CC60D14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05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no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A495C3F-65A2-46C9-AD36-2C0426DA3C40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8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8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9.5446546041048727E-2"/>
                  <c:h val="0.10295864782860246"/>
                </c:manualLayout>
              </c15:layout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5DCB72F0-02C3-477B-A3F4-E0516CC60D14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05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no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A495C3F-65A2-46C9-AD36-2C0426DA3C40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8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8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9.5446546041048727E-2"/>
                  <c:h val="0.10295864782860246"/>
                </c:manualLayout>
              </c15:layout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5DCB72F0-02C3-477B-A3F4-E0516CC60D14}" type="PERCENTAGE"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105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'Crime Involving guns.xlsx'!$F$3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13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52E-44F2-9F51-E2D60EEAB74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solidFill>
                  <a:schemeClr val="accent1">
                    <a:alpha val="99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52E-44F2-9F51-E2D60EEAB74B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2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A495C3F-65A2-46C9-AD36-2C0426DA3C40}" type="PERCENTAGE"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 sz="3200"/>
                      </a:pPr>
                      <a:t>[PERCENTAGE]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446546041048727E-2"/>
                      <c:h val="0.1029586478286024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52E-44F2-9F51-E2D60EEAB74B}"/>
                </c:ext>
              </c:extLst>
            </c:dLbl>
            <c:dLbl>
              <c:idx val="1"/>
              <c:layout>
                <c:manualLayout>
                  <c:x val="1.7307783099796695E-2"/>
                  <c:y val="5.5028619214953917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32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DCB72F0-02C3-477B-A3F4-E0516CC60D14}" type="PERCENTAGE">
                      <a: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 sz="3200"/>
                      </a:pPr>
                      <a:t>[PERCENTAGE]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N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52E-44F2-9F51-E2D60EEAB74B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'Crime Involving guns.xlsx'!$E$4:$E$6</c:f>
              <c:strCache>
                <c:ptCount val="2"/>
                <c:pt idx="0">
                  <c:v>Gun Crime</c:v>
                </c:pt>
                <c:pt idx="1">
                  <c:v>Non-Gun Crime</c:v>
                </c:pt>
              </c:strCache>
            </c:strRef>
          </c:cat>
          <c:val>
            <c:numRef>
              <c:f>'Crime Involving guns.xlsx'!$F$4:$F$6</c:f>
              <c:numCache>
                <c:formatCode>0%</c:formatCode>
                <c:ptCount val="2"/>
                <c:pt idx="0">
                  <c:v>12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2E-44F2-9F51-E2D60EEAB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384722742990457"/>
          <c:y val="0.42137434248590017"/>
          <c:w val="0.24499854184893555"/>
          <c:h val="0.213638466812343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[Excel_Analysis.xlsx]Crime Category Distrib.xlsx!PivotTable1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cap="none" spc="0" normalizeH="0" baseline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pPr>
            <a:r>
              <a:rPr lang="en-I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Category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cap="none" spc="0" normalizeH="0" baseline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6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  <a:sp3d/>
        </c:spPr>
        <c:marker>
          <c:symbol val="circle"/>
          <c:size val="8"/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159406461508281E-2"/>
              <c:y val="-3.72527551109592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2584960005707103E-2"/>
              <c:y val="-4.12890820534416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07351994724171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5324725122836428E-2"/>
              <c:y val="-3.25960415392071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/>
          <a:sp3d/>
        </c:spPr>
        <c:dLbl>
          <c:idx val="0"/>
          <c:layout>
            <c:manualLayout>
              <c:x val="2.0602277489945694E-2"/>
              <c:y val="-3.1355586101686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135558610168679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no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fld id="{36BE181E-646C-468C-A326-D61E0BC578EB}" type="VALUE"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135558610168679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fld id="{36BE181E-646C-468C-A326-D61E0BC578EB}" type="VALUE"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2584960005707103E-2"/>
              <c:y val="-4.12890820534416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  <a:sp3d/>
        </c:spPr>
        <c:dLbl>
          <c:idx val="0"/>
          <c:layout>
            <c:manualLayout>
              <c:x val="2.0602277489945694E-2"/>
              <c:y val="-3.1355586101686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07351994724171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4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5324725122836428E-2"/>
              <c:y val="-3.25960415392071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159406461508281E-2"/>
              <c:y val="-3.72527551109592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/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135558610168679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fld id="{36BE181E-646C-468C-A326-D61E0BC578EB}" type="VALUE"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6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2584960005707103E-2"/>
              <c:y val="-4.12890820534416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/>
          </a:solidFill>
          <a:ln>
            <a:noFill/>
          </a:ln>
          <a:effectLst/>
          <a:sp3d/>
        </c:spPr>
        <c:dLbl>
          <c:idx val="0"/>
          <c:layout>
            <c:manualLayout>
              <c:x val="2.0602277489945694E-2"/>
              <c:y val="-3.1355586101686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2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657529360358834E-2"/>
              <c:y val="-3.07351994724171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4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5324725122836428E-2"/>
              <c:y val="-3.25960415392071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6">
              <a:lumMod val="60000"/>
            </a:schemeClr>
          </a:solidFill>
          <a:ln>
            <a:noFill/>
          </a:ln>
          <a:effectLst/>
          <a:sp3d/>
        </c:spPr>
        <c:dLbl>
          <c:idx val="0"/>
          <c:layout>
            <c:manualLayout>
              <c:x val="2.4159406461508281E-2"/>
              <c:y val="-3.72527551109592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'Crime Category Distrib.xlsx'!$A$3</c:f>
              <c:strCache>
                <c:ptCount val="1"/>
                <c:pt idx="0">
                  <c:v>Theft Offense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CC66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0-9246-4A80-B14A-E59C42D2B494}"/>
              </c:ext>
            </c:extLst>
          </c:dPt>
          <c:dLbls>
            <c:dLbl>
              <c:idx val="0"/>
              <c:layout>
                <c:manualLayout>
                  <c:x val="2.4657529360358834E-2"/>
                  <c:y val="-3.1355586101686796E-2"/>
                </c:manualLayout>
              </c:layout>
              <c:tx>
                <c:rich>
                  <a:bodyPr/>
                  <a:lstStyle/>
                  <a:p>
                    <a:fld id="{36BE181E-646C-468C-A326-D61E0BC578EB}" type="VALUE"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Distrib.xlsx'!$A$4</c:f>
              <c:numCache>
                <c:formatCode>General</c:formatCode>
                <c:ptCount val="1"/>
                <c:pt idx="0">
                  <c:v>11931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9246-4A80-B14A-E59C42D2B494}"/>
            </c:ext>
          </c:extLst>
        </c:ser>
        <c:ser>
          <c:idx val="1"/>
          <c:order val="1"/>
          <c:tx>
            <c:strRef>
              <c:f>'Crime Category Distrib.xlsx'!$B$3</c:f>
              <c:strCache>
                <c:ptCount val="1"/>
                <c:pt idx="0">
                  <c:v>Violence Offense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246-4A80-B14A-E59C42D2B494}"/>
              </c:ext>
            </c:extLst>
          </c:dPt>
          <c:dLbls>
            <c:dLbl>
              <c:idx val="0"/>
              <c:layout>
                <c:manualLayout>
                  <c:x val="2.2584960005707103E-2"/>
                  <c:y val="-4.128908205344167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Distrib.xlsx'!$B$4</c:f>
              <c:numCache>
                <c:formatCode>General</c:formatCode>
                <c:ptCount val="1"/>
                <c:pt idx="0">
                  <c:v>6325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3-9246-4A80-B14A-E59C42D2B494}"/>
            </c:ext>
          </c:extLst>
        </c:ser>
        <c:ser>
          <c:idx val="2"/>
          <c:order val="2"/>
          <c:tx>
            <c:strRef>
              <c:f>'Crime Category Distrib.xlsx'!$C$3</c:f>
              <c:strCache>
                <c:ptCount val="1"/>
                <c:pt idx="0">
                  <c:v>Drug Offense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246-4A80-B14A-E59C42D2B494}"/>
              </c:ext>
            </c:extLst>
          </c:dPt>
          <c:dLbls>
            <c:dLbl>
              <c:idx val="0"/>
              <c:layout>
                <c:manualLayout>
                  <c:x val="2.0602277489945694E-2"/>
                  <c:y val="-3.13555861016869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Distrib.xlsx'!$C$4</c:f>
              <c:numCache>
                <c:formatCode>General</c:formatCode>
                <c:ptCount val="1"/>
                <c:pt idx="0">
                  <c:v>4242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5-9246-4A80-B14A-E59C42D2B494}"/>
            </c:ext>
          </c:extLst>
        </c:ser>
        <c:ser>
          <c:idx val="3"/>
          <c:order val="3"/>
          <c:tx>
            <c:strRef>
              <c:f>'Crime Category Distrib.xlsx'!$D$3</c:f>
              <c:strCache>
                <c:ptCount val="1"/>
                <c:pt idx="0">
                  <c:v>Other Offense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246-4A80-B14A-E59C42D2B494}"/>
              </c:ext>
            </c:extLst>
          </c:dPt>
          <c:dLbls>
            <c:dLbl>
              <c:idx val="0"/>
              <c:layout>
                <c:manualLayout>
                  <c:x val="2.4657529360358834E-2"/>
                  <c:y val="-3.07351994724171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Distrib.xlsx'!$D$4</c:f>
              <c:numCache>
                <c:formatCode>General</c:formatCode>
                <c:ptCount val="1"/>
                <c:pt idx="0">
                  <c:v>635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7-9246-4A80-B14A-E59C42D2B494}"/>
            </c:ext>
          </c:extLst>
        </c:ser>
        <c:ser>
          <c:idx val="4"/>
          <c:order val="4"/>
          <c:tx>
            <c:strRef>
              <c:f>'Crime Category Distrib.xlsx'!$E$3</c:f>
              <c:strCache>
                <c:ptCount val="1"/>
                <c:pt idx="0">
                  <c:v>Kidnapping Trafficking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CC99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8-9246-4A80-B14A-E59C42D2B494}"/>
              </c:ext>
            </c:extLst>
          </c:dPt>
          <c:dLbls>
            <c:dLbl>
              <c:idx val="0"/>
              <c:layout>
                <c:manualLayout>
                  <c:x val="2.5324725122836428E-2"/>
                  <c:y val="-3.25960415392071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Distrib.xlsx'!$E$4</c:f>
              <c:numCache>
                <c:formatCode>General</c:formatCode>
                <c:ptCount val="1"/>
                <c:pt idx="0">
                  <c:v>258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9-9246-4A80-B14A-E59C42D2B494}"/>
            </c:ext>
          </c:extLst>
        </c:ser>
        <c:ser>
          <c:idx val="5"/>
          <c:order val="5"/>
          <c:tx>
            <c:strRef>
              <c:f>'Crime Category Distrib.xlsx'!$F$3</c:f>
              <c:strCache>
                <c:ptCount val="1"/>
                <c:pt idx="0">
                  <c:v>Sex Offense</c:v>
                </c:pt>
              </c:strCache>
            </c:strRef>
          </c:tx>
          <c:spPr>
            <a:solidFill>
              <a:srgbClr val="0033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0066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A-9246-4A80-B14A-E59C42D2B494}"/>
              </c:ext>
            </c:extLst>
          </c:dPt>
          <c:dLbls>
            <c:dLbl>
              <c:idx val="0"/>
              <c:layout>
                <c:manualLayout>
                  <c:x val="2.4159406461508281E-2"/>
                  <c:y val="-3.725275511095926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246-4A80-B14A-E59C42D2B4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'Crime Category Distrib.xlsx'!$A$4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'Crime Category Distrib.xlsx'!$F$4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B-9246-4A80-B14A-E59C42D2B4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100353216"/>
        <c:axId val="2100341696"/>
        <c:axId val="0"/>
      </c:bar3DChart>
      <c:catAx>
        <c:axId val="21003532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6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Offense Categories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0341696"/>
        <c:crosses val="autoZero"/>
        <c:auto val="1"/>
        <c:lblAlgn val="ctr"/>
        <c:lblOffset val="100"/>
        <c:noMultiLvlLbl val="0"/>
      </c:catAx>
      <c:valAx>
        <c:axId val="210034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6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Offenses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10035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7.2195351310171879E-2"/>
          <c:w val="0.99675248125128191"/>
          <c:h val="0.122021023860413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[Excel_Analysis.xlsx]Highest victims(statewise).xlsx!PivotTable1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Total Victims by 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1980323438391245E-2"/>
          <c:y val="0.11784237907761529"/>
          <c:w val="0.93775053671713393"/>
          <c:h val="0.576103533933258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'Highest victims(statewise).xlsx'!$B$3:$B$4</c:f>
              <c:strCache>
                <c:ptCount val="1"/>
                <c:pt idx="0">
                  <c:v>KY-Kentucky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42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42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42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victims(statewise).xlsx'!$B$5</c:f>
              <c:numCache>
                <c:formatCode>General</c:formatCode>
                <c:ptCount val="1"/>
                <c:pt idx="0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AF5-B8A7-FD404240F711}"/>
            </c:ext>
          </c:extLst>
        </c:ser>
        <c:ser>
          <c:idx val="1"/>
          <c:order val="1"/>
          <c:tx>
            <c:strRef>
              <c:f>'Highest victims(statewise).xlsx'!$C$3:$C$4</c:f>
              <c:strCache>
                <c:ptCount val="1"/>
                <c:pt idx="0">
                  <c:v>WA-Washington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5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5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victims(statewise).xlsx'!$C$5</c:f>
              <c:numCache>
                <c:formatCode>General</c:formatCode>
                <c:ptCount val="1"/>
                <c:pt idx="0">
                  <c:v>3339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C5-4AF5-B8A7-FD404240F711}"/>
            </c:ext>
          </c:extLst>
        </c:ser>
        <c:ser>
          <c:idx val="2"/>
          <c:order val="2"/>
          <c:tx>
            <c:strRef>
              <c:f>'Highest victims(statewise).xlsx'!$D$3:$D$4</c:f>
              <c:strCache>
                <c:ptCount val="1"/>
                <c:pt idx="0">
                  <c:v>CO-Colorado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8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8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victims(statewise).xlsx'!$D$5</c:f>
              <c:numCache>
                <c:formatCode>General</c:formatCode>
                <c:ptCount val="1"/>
                <c:pt idx="0">
                  <c:v>2672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C5-4AF5-B8A7-FD404240F711}"/>
            </c:ext>
          </c:extLst>
        </c:ser>
        <c:ser>
          <c:idx val="3"/>
          <c:order val="3"/>
          <c:tx>
            <c:strRef>
              <c:f>'Highest victims(statewise).xlsx'!$E$3:$E$4</c:f>
              <c:strCache>
                <c:ptCount val="1"/>
                <c:pt idx="0">
                  <c:v>TX-Texas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8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8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victims(statewise).xlsx'!$E$5</c:f>
              <c:numCache>
                <c:formatCode>General</c:formatCode>
                <c:ptCount val="1"/>
                <c:pt idx="0">
                  <c:v>2584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C5-4AF5-B8A7-FD404240F711}"/>
            </c:ext>
          </c:extLst>
        </c:ser>
        <c:ser>
          <c:idx val="4"/>
          <c:order val="4"/>
          <c:tx>
            <c:strRef>
              <c:f>'Highest victims(statewise).xlsx'!$F$3:$F$4</c:f>
              <c:strCache>
                <c:ptCount val="1"/>
                <c:pt idx="0">
                  <c:v>TN-Tennessee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93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93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93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victims(statewise).xlsx'!$F$5</c:f>
              <c:numCache>
                <c:formatCode>General</c:formatCode>
                <c:ptCount val="1"/>
                <c:pt idx="0">
                  <c:v>1347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C5-4AF5-B8A7-FD404240F711}"/>
            </c:ext>
          </c:extLst>
        </c:ser>
        <c:ser>
          <c:idx val="5"/>
          <c:order val="5"/>
          <c:tx>
            <c:strRef>
              <c:f>'Highest victims(statewise).xlsx'!$G$3:$G$4</c:f>
              <c:strCache>
                <c:ptCount val="1"/>
                <c:pt idx="0">
                  <c:v>WI-Wiscousin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4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94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94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victims(statewise).xlsx'!$G$5</c:f>
              <c:numCache>
                <c:formatCode>General</c:formatCode>
                <c:ptCount val="1"/>
                <c:pt idx="0">
                  <c:v>1307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C5-4AF5-B8A7-FD404240F711}"/>
            </c:ext>
          </c:extLst>
        </c:ser>
        <c:ser>
          <c:idx val="6"/>
          <c:order val="6"/>
          <c:tx>
            <c:strRef>
              <c:f>'Highest victims(statewise).xlsx'!$H$3:$H$4</c:f>
              <c:strCache>
                <c:ptCount val="1"/>
                <c:pt idx="0">
                  <c:v>MO-Missouri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81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81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81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victims(statewise).xlsx'!$H$5</c:f>
              <c:numCache>
                <c:formatCode>General</c:formatCode>
                <c:ptCount val="1"/>
                <c:pt idx="0">
                  <c:v>1294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C5-4AF5-B8A7-FD404240F711}"/>
            </c:ext>
          </c:extLst>
        </c:ser>
        <c:ser>
          <c:idx val="7"/>
          <c:order val="7"/>
          <c:tx>
            <c:strRef>
              <c:f>'Highest victims(statewise).xlsx'!$I$3:$I$4</c:f>
              <c:strCache>
                <c:ptCount val="1"/>
                <c:pt idx="0">
                  <c:v>VA-Virginia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9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9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9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victims(statewise).xlsx'!$I$5</c:f>
              <c:numCache>
                <c:formatCode>General</c:formatCode>
                <c:ptCount val="1"/>
                <c:pt idx="0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C5-4AF5-B8A7-FD404240F711}"/>
            </c:ext>
          </c:extLst>
        </c:ser>
        <c:ser>
          <c:idx val="8"/>
          <c:order val="8"/>
          <c:tx>
            <c:strRef>
              <c:f>'Highest victims(statewise).xlsx'!$J$3:$J$4</c:f>
              <c:strCache>
                <c:ptCount val="1"/>
                <c:pt idx="0">
                  <c:v>MI-Michigan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5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5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victims(statewise).xlsx'!$J$5</c:f>
              <c:numCache>
                <c:formatCode>General</c:formatCode>
                <c:ptCount val="1"/>
                <c:pt idx="0">
                  <c:v>1226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C5-4AF5-B8A7-FD404240F711}"/>
            </c:ext>
          </c:extLst>
        </c:ser>
        <c:ser>
          <c:idx val="9"/>
          <c:order val="9"/>
          <c:tx>
            <c:strRef>
              <c:f>'Highest victims(statewise).xlsx'!$K$3:$K$4</c:f>
              <c:strCache>
                <c:ptCount val="1"/>
                <c:pt idx="0">
                  <c:v>OH-Ohio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43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43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43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'Highest victims(statewise).xlsx'!$A$5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'Highest victims(statewise).xlsx'!$K$5</c:f>
              <c:numCache>
                <c:formatCode>General</c:formatCode>
                <c:ptCount val="1"/>
                <c:pt idx="0">
                  <c:v>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BC5-4AF5-B8A7-FD404240F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0"/>
        <c:axId val="1038164639"/>
        <c:axId val="1038163679"/>
      </c:barChart>
      <c:catAx>
        <c:axId val="103816463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2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8163679"/>
        <c:crosses val="autoZero"/>
        <c:auto val="1"/>
        <c:lblAlgn val="ctr"/>
        <c:lblOffset val="100"/>
        <c:noMultiLvlLbl val="0"/>
      </c:catAx>
      <c:valAx>
        <c:axId val="10381636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Victims</a:t>
                </a:r>
              </a:p>
            </c:rich>
          </c:tx>
          <c:layout>
            <c:manualLayout>
              <c:xMode val="edge"/>
              <c:yMode val="edge"/>
              <c:x val="0.40800197841004743"/>
              <c:y val="0.7591840082489689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2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38164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327514095170564E-2"/>
          <c:y val="0.82793400824896879"/>
          <c:w val="0.88105171866269316"/>
          <c:h val="0.169089801274840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0.33757</cdr:x>
      <cdr:y>0.44586</cdr:y>
    </cdr:from>
    <cdr:to>
      <cdr:x>0.47206</cdr:x>
      <cdr:y>0.65257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AE24A92-000A-E20E-2ACA-1384F8C10F28}"/>
            </a:ext>
          </a:extLst>
        </cdr:cNvPr>
        <cdr:cNvSpPr txBox="1"/>
      </cdr:nvSpPr>
      <cdr:spPr>
        <a:xfrm xmlns:a="http://schemas.openxmlformats.org/drawingml/2006/main">
          <a:off x="3467753" y="2057992"/>
          <a:ext cx="1381617" cy="95410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IN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Gun % </a:t>
          </a:r>
        </a:p>
        <a:p xmlns:a="http://schemas.openxmlformats.org/drawingml/2006/main">
          <a:r>
            <a:rPr lang="en-IN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</a:t>
          </a:r>
        </a:p>
        <a:p xmlns:a="http://schemas.openxmlformats.org/drawingml/2006/main">
          <a:endParaRPr lang="en-IN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2/12/2026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2/12/2026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18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908720"/>
            <a:ext cx="10287000" cy="3886200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Data Analysis – 2020</a:t>
            </a:r>
            <a:br>
              <a:rPr lang="pt-BR" dirty="0"/>
            </a:br>
            <a:r>
              <a:rPr lang="pt-BR"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Individual_Incident_2020.csv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Presented By: Alamaara Kazi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7A258-201F-EBAA-9A2B-0B6FC584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32613" y="1884870"/>
            <a:ext cx="403187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Insights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0EEC-E226-5A00-6F0D-73C48F0C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49CA45-9000-BB7B-A706-DF05515C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E4AF7-6ED8-0F39-9286-D91721292B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9049072" cy="4267200"/>
          </a:xfrm>
        </p:spPr>
        <p:txBody>
          <a:bodyPr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 Individual_Incident_2020.csv has crime incident data for the year 2020.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contains 53 columns such as state,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incident_number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total_offense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total_victim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different offense types like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theft_offense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violence_offense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drug_offense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also has details about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gun_involvement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property_value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victim information.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50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5183-7BFE-0E9F-16C8-76EDE2E9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4F20-1D9C-4C5C-4D1F-EBDE52A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744816" cy="1447800"/>
          </a:xfrm>
        </p:spPr>
        <p:txBody>
          <a:bodyPr>
            <a:normAutofit/>
          </a:bodyPr>
          <a:lstStyle/>
          <a:p>
            <a:r>
              <a:rPr lang="en-IN" sz="4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7F6EA-C8FB-4F91-2315-56E962B6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018A4-9A1A-F458-FED8-51B63932EA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9049072" cy="4267200"/>
          </a:xfrm>
        </p:spPr>
        <p:txBody>
          <a:bodyPr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load and clean the Individual_Incident_2020.csv dataset.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53 columns with different data types such as string and float.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53 columns with different data types such as string and float.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 size and processing caused issues while exporting the cleaned dataset.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5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BE84-2A8E-8996-7390-0DCFA8178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4F51-B830-7103-4FD5-E507BBF1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BC3EE-2149-B547-1B4F-66C733EB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C90AB-C30F-2B85-1BC7-CD65B912697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9049072" cy="4267200"/>
          </a:xfrm>
        </p:spPr>
        <p:txBody>
          <a:bodyPr/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analysis was done using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Anaconda Navigator (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view the data columns and create pivot charts,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used.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dashboard was created using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SQL queries were executed in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55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1200-409C-C824-306A-EFB3E9B5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AE75-92F1-E6FC-574C-15E04041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58BACD-2DF0-53D0-2E04-3C825F86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37AE2B7-3424-788B-51C4-C80FCB93D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205034"/>
              </p:ext>
            </p:extLst>
          </p:nvPr>
        </p:nvGraphicFramePr>
        <p:xfrm>
          <a:off x="1605693" y="2057400"/>
          <a:ext cx="10105343" cy="4423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F72440-FFDE-BA1B-9D26-1ACE13D06795}"/>
              </a:ext>
            </a:extLst>
          </p:cNvPr>
          <p:cNvSpPr txBox="1"/>
          <p:nvPr/>
        </p:nvSpPr>
        <p:spPr>
          <a:xfrm>
            <a:off x="1605693" y="1333500"/>
            <a:ext cx="1027283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clearly shows that non-gun crimes are much higher than gun-related crimes in 2020.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572C-2F78-229A-E981-FC429273C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6FE1A0-A35A-7CD9-0833-3BE50350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Crime Category Distribution">
            <a:extLst>
              <a:ext uri="{FF2B5EF4-FFF2-40B4-BE49-F238E27FC236}">
                <a16:creationId xmlns:a16="http://schemas.microsoft.com/office/drawing/2014/main" id="{4261DE81-8E55-65BB-22F8-7E14AB013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55605"/>
              </p:ext>
            </p:extLst>
          </p:nvPr>
        </p:nvGraphicFramePr>
        <p:xfrm>
          <a:off x="1917948" y="1124744"/>
          <a:ext cx="9289032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CBF3A0-4B16-D3F3-737E-C105D0731C7D}"/>
              </a:ext>
            </a:extLst>
          </p:cNvPr>
          <p:cNvSpPr txBox="1"/>
          <p:nvPr/>
        </p:nvSpPr>
        <p:spPr>
          <a:xfrm>
            <a:off x="1557908" y="600045"/>
            <a:ext cx="90730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that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theft_offense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much higher than all other offense types.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8E9E-6658-1278-9E47-A6399D80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D85DBC-EEC8-DF0F-2F49-BB4A7C8A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97B8796-F286-61AF-5137-82A08AB53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628900"/>
              </p:ext>
            </p:extLst>
          </p:nvPr>
        </p:nvGraphicFramePr>
        <p:xfrm>
          <a:off x="1629916" y="1268760"/>
          <a:ext cx="10009112" cy="525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1660E2-066C-A30D-A864-BBC57253F22D}"/>
              </a:ext>
            </a:extLst>
          </p:cNvPr>
          <p:cNvSpPr txBox="1"/>
          <p:nvPr/>
        </p:nvSpPr>
        <p:spPr>
          <a:xfrm>
            <a:off x="1629916" y="609600"/>
            <a:ext cx="619268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crime impact is not equal across all states.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4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C176-6866-7DF0-CB50-0CE7A707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5BADBA-2DD4-7C59-2D42-C11F192B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0D0365-2590-A23E-F2A5-BD58E1229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32" y="990600"/>
            <a:ext cx="10081120" cy="575076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693EB4-648E-2161-D6AB-47DBBDAFC240}"/>
              </a:ext>
            </a:extLst>
          </p:cNvPr>
          <p:cNvSpPr txBox="1"/>
          <p:nvPr/>
        </p:nvSpPr>
        <p:spPr>
          <a:xfrm>
            <a:off x="1413892" y="255657"/>
            <a:ext cx="965485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complete view of crime data by showing total incidents, victims, gun involvement, property loss, and monthly patterns.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98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7030-F3D5-C051-391E-7A1ECF98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3662-0B7F-5397-A9A2-66396BFD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888832" cy="1447800"/>
          </a:xfrm>
        </p:spPr>
        <p:txBody>
          <a:bodyPr/>
          <a:lstStyle/>
          <a:p>
            <a:r>
              <a:rPr lang="en-IN" sz="4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Insight</a:t>
            </a:r>
            <a:endParaRPr lang="en-IN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0F5F8-155A-5773-6B1B-00E92D74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510D4-8CE5-8C1C-71CC-A117C253561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073957"/>
            <a:ext cx="9049072" cy="4267200"/>
          </a:xfrm>
        </p:spPr>
        <p:txBody>
          <a:bodyPr>
            <a:normAutofit lnSpcReduction="10000"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victim group is mostly affected?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male_victim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is higher than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female_victim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unknown_sex_victim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percentage of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gun_involvement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Around 12–13% of total incidents involve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gun_involvement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states have more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total_victim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cases?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States like Texas and Washington show higher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total_victim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numbers.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property_value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significant?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property_value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high loss in some months, especially mid-year.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all offenders known?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No. Many cases are marked 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offender_not_known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33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4492" y="1811288"/>
            <a:ext cx="4726707" cy="323542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Alamaara Kazi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+91 9860939091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https://github.com/alamaara1725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alamaara.ds25@gmail.com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134</TotalTime>
  <Words>466</Words>
  <Application>Microsoft Office PowerPoint</Application>
  <PresentationFormat>Custom</PresentationFormat>
  <Paragraphs>67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</vt:lpstr>
      <vt:lpstr>Century Gothic</vt:lpstr>
      <vt:lpstr>Palatino Linotype</vt:lpstr>
      <vt:lpstr>Times New Roman</vt:lpstr>
      <vt:lpstr>Custom</vt:lpstr>
      <vt:lpstr>Crime Data Analysis – 2020 Dataset: Individual_Incident_2020.csv</vt:lpstr>
      <vt:lpstr>CONTENT</vt:lpstr>
      <vt:lpstr>INTRODUCTION</vt:lpstr>
      <vt:lpstr>Problem statement</vt:lpstr>
      <vt:lpstr>Methodology</vt:lpstr>
      <vt:lpstr>Results</vt:lpstr>
      <vt:lpstr>PowerPoint Presentation</vt:lpstr>
      <vt:lpstr>PowerPoint Presentation</vt:lpstr>
      <vt:lpstr>PowerPoint Presentation</vt:lpstr>
      <vt:lpstr>Analysis and Insight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Alamaara Kazi</dc:creator>
  <cp:lastModifiedBy>Alamaara Kazi</cp:lastModifiedBy>
  <cp:revision>1</cp:revision>
  <dcterms:created xsi:type="dcterms:W3CDTF">2026-02-12T11:56:43Z</dcterms:created>
  <dcterms:modified xsi:type="dcterms:W3CDTF">2026-02-12T14:11:07Z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